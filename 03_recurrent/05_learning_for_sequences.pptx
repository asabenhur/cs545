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727" r:id="rId3"/>
    <p:sldId id="728" r:id="rId4"/>
    <p:sldId id="3027" r:id="rId5"/>
    <p:sldId id="3033" r:id="rId6"/>
    <p:sldId id="729" r:id="rId7"/>
    <p:sldId id="730" r:id="rId8"/>
    <p:sldId id="654" r:id="rId9"/>
    <p:sldId id="3034" r:id="rId10"/>
    <p:sldId id="3035" r:id="rId11"/>
    <p:sldId id="3036" r:id="rId12"/>
    <p:sldId id="3037" r:id="rId13"/>
    <p:sldId id="698" r:id="rId14"/>
    <p:sldId id="701" r:id="rId15"/>
    <p:sldId id="699" r:id="rId16"/>
    <p:sldId id="700" r:id="rId17"/>
    <p:sldId id="702" r:id="rId18"/>
    <p:sldId id="3038" r:id="rId19"/>
    <p:sldId id="3039" r:id="rId20"/>
    <p:sldId id="3040" r:id="rId21"/>
    <p:sldId id="703" r:id="rId22"/>
    <p:sldId id="704" r:id="rId23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5FF"/>
    <a:srgbClr val="0000FF"/>
    <a:srgbClr val="FF0000"/>
    <a:srgbClr val="20DF29"/>
    <a:srgbClr val="E8E990"/>
    <a:srgbClr val="FF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61" autoAdjust="0"/>
    <p:restoredTop sz="81698" autoAdjust="0"/>
  </p:normalViewPr>
  <p:slideViewPr>
    <p:cSldViewPr>
      <p:cViewPr varScale="1">
        <p:scale>
          <a:sx n="93" d="100"/>
          <a:sy n="93" d="100"/>
        </p:scale>
        <p:origin x="848" y="2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928"/>
    </p:cViewPr>
  </p:sorterViewPr>
  <p:notesViewPr>
    <p:cSldViewPr snapToGrid="0" snapToObjects="1">
      <p:cViewPr varScale="1">
        <p:scale>
          <a:sx n="42" d="100"/>
          <a:sy n="42" d="100"/>
        </p:scale>
        <p:origin x="-2232" y="-120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15E2060-F184-4021-99D0-835A7FCC6F25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3F80224-0279-41B8-A61C-781D298DC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5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65F8E4-B9E6-2B4F-BFC1-EA81C899571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25E5663-0004-3649-B9EC-01B1CEAF3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1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ED7658-EC12-7347-9AFD-E97032C5D377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11400" y="525463"/>
            <a:ext cx="4673600" cy="2628900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RNN encapsulates the previously seen elements of the sequence in its hidden state that is used to infer the next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3DCB5-4B1A-7C41-B1F8-2EE8BD31410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63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7C6A-58B9-86FD-4925-482AD6A5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CA5FA-FD27-0390-F8A6-2382847D7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8BD29-E985-3BA0-0ABA-80D233919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RNN encapsulates the previously seen elements of the sequence in its hidden state that is used to infer the next output.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 training process, we run 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 on the output from the output layer for each time step, and then use the cross-entropy loss to compute the error between the model output and the target.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4813C-0F0D-9118-E4F0-2B47E3B9D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3DCB5-4B1A-7C41-B1F8-2EE8BD31410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11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(“the vanishing / exploding gradient problem”). Part of the solution : gradient clipping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E5663-0004-3649-B9EC-01B1CEAF3D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82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 as that gap grows, RNNs become unable to learn to connect the information between what it has seen and what is needed in a given position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E5663-0004-3649-B9EC-01B1CEAF3D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0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LSTMs are explicitly designed to avoid the long-term dependency problem. Remembering information for long periods of time is practically their default behavior, not something they struggle to learn!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3DCB5-4B1A-7C41-B1F8-2EE8BD31410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9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The cell state provides longer term memory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The next step is to decide what new information we’re going to store in the cell state. This has two parts. First, a sigmoid layer called the “input gate layer” decides which values we’ll update. Next, a tanh layer creates a vector of new candidate values,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Italic" pitchFamily="2" charset="2"/>
              </a:rPr>
              <a:t>C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Regular" pitchFamily="2" charset="2"/>
              </a:rPr>
              <a:t>̃ 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STIXGeneral-Italic" pitchFamily="2" charset="2"/>
              </a:rPr>
              <a:t>t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CMS"/>
              </a:rPr>
              <a:t>C~t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, that could be added to the state. In the next step, we’ll combine these two to create an update to the state.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3DCB5-4B1A-7C41-B1F8-2EE8BD31410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920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CMS"/>
              </a:rPr>
              <a:t>The cell state is kind of like a conveyor belt. It runs straight down the entire chain, with only some minor linear interactions. It’s very easy for information to just flow along it unchanged.</a:t>
            </a:r>
          </a:p>
          <a:p>
            <a:endParaRPr lang="en-US" b="0" i="0" u="none" strike="noStrike" dirty="0">
              <a:solidFill>
                <a:srgbClr val="333333"/>
              </a:solidFill>
              <a:effectLst/>
              <a:latin typeface="CM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The first step in our LSTM is to decide what information we’re going to throw away from the cell state. This decision is made by a sigmoid layer called the “forget gate layer.” It looks at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Italic" pitchFamily="2" charset="2"/>
              </a:rPr>
              <a:t>ht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Regular" pitchFamily="2" charset="2"/>
              </a:rPr>
              <a:t>−1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 and 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STIXGeneral-Italic" pitchFamily="2" charset="2"/>
              </a:rPr>
              <a:t>xt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, and outputs a number between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Regular" pitchFamily="2" charset="2"/>
              </a:rPr>
              <a:t>0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 and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CMS"/>
              </a:rPr>
              <a:t>1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 for each number in the cell state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Italic" pitchFamily="2" charset="2"/>
              </a:rPr>
              <a:t>Ct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Regular" pitchFamily="2" charset="2"/>
              </a:rPr>
              <a:t>−1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. A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CMS"/>
              </a:rPr>
              <a:t>1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 represents “completely keep this” while a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Regular" pitchFamily="2" charset="2"/>
              </a:rPr>
              <a:t>0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 represents “completely get rid of this.”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3DCB5-4B1A-7C41-B1F8-2EE8BD31410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45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The next step is to decide what new information we’re going to store in the cell state. This has two parts. First, a sigmoid layer called the “input gate layer” decides which values we’ll update. Next, a tanh layer creates a vector of new candidate values,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Italic" pitchFamily="2" charset="2"/>
              </a:rPr>
              <a:t>C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Regular" pitchFamily="2" charset="2"/>
              </a:rPr>
              <a:t>̃ 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TIXGeneral-Italic" pitchFamily="2" charset="2"/>
              </a:rPr>
              <a:t>t</a:t>
            </a:r>
            <a:r>
              <a:rPr lang="en-US" b="0" i="0" dirty="0">
                <a:solidFill>
                  <a:srgbClr val="333333"/>
                </a:solidFill>
                <a:effectLst/>
                <a:latin typeface="CMS"/>
              </a:rPr>
              <a:t>, that could be added to the state. In the next step, we’ll combine these two to create an update to the state.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3DCB5-4B1A-7C41-B1F8-2EE8BD31410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371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first sentence “happy” seems to be a likely candidate. The words “not” and “very” seem plausible in the second sentence, but “not” seems incompatible with the third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E5663-0004-3649-B9EC-01B1CEAF3D3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26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E5663-0004-3649-B9EC-01B1CEAF3D3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1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>
            <a:lvl1pPr>
              <a:defRPr>
                <a:latin typeface="Optima"/>
                <a:cs typeface="Optim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Optima"/>
                <a:cs typeface="Optima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5909F-F93F-D14D-A070-C2093B891463}" type="datetime1">
              <a:rPr lang="en-US" smtClean="0"/>
              <a:t>11/9/25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Optima"/>
                <a:cs typeface="Optim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Optima"/>
                <a:cs typeface="Optima"/>
              </a:defRPr>
            </a:lvl1pPr>
            <a:lvl2pPr>
              <a:defRPr>
                <a:latin typeface="Optima"/>
                <a:cs typeface="Optima"/>
              </a:defRPr>
            </a:lvl2pPr>
            <a:lvl3pPr>
              <a:defRPr>
                <a:latin typeface="Optima"/>
                <a:cs typeface="Optima"/>
              </a:defRPr>
            </a:lvl3pPr>
            <a:lvl4pPr>
              <a:defRPr>
                <a:latin typeface="Optima"/>
                <a:cs typeface="Optima"/>
              </a:defRPr>
            </a:lvl4pPr>
            <a:lvl5pPr>
              <a:defRPr>
                <a:latin typeface="Optima"/>
                <a:cs typeface="Optim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E1C74-E2E5-E743-B502-3F2DD7DBA569}" type="datetime1">
              <a:rPr lang="en-US" smtClean="0"/>
              <a:t>11/9/25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180D-D8A4-6348-9B34-79FD998A717F}" type="datetime1">
              <a:rPr lang="en-US" smtClean="0"/>
              <a:t>11/9/25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677B0-D464-0A45-ADFC-CF93A6CAE6B2}" type="datetime1">
              <a:rPr lang="en-US" smtClean="0"/>
              <a:t>11/9/25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D471-F044-8E4B-97F0-F510B09BD5BC}" type="datetime1">
              <a:rPr lang="en-US" smtClean="0"/>
              <a:t>11/9/25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721F8-AE1D-FF46-BD40-1A448544E63A}" type="datetime1">
              <a:rPr lang="en-US" smtClean="0"/>
              <a:t>11/9/25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44E6-BBD6-E143-92B7-7C6753F34635}" type="datetime1">
              <a:rPr lang="en-US" smtClean="0"/>
              <a:t>11/9/25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F777-A5CF-B342-801F-23961BCDF428}" type="datetime1">
              <a:rPr lang="en-US" smtClean="0"/>
              <a:t>11/9/25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E37D2-E74C-854C-B6DA-3CB425726E9D}" type="datetime1">
              <a:rPr lang="en-US" smtClean="0"/>
              <a:t>11/9/25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5D46-8AB5-7D42-BC63-1B03C3379693}" type="datetime1">
              <a:rPr lang="en-US" smtClean="0"/>
              <a:t>11/9/25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0090-61D2-4846-9BB9-F8437EFC2662}" type="datetime1">
              <a:rPr lang="en-US" smtClean="0"/>
              <a:t>11/9/25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38C11-2426-0A4D-AA00-D95DD69ED385}" type="datetime1">
              <a:rPr lang="en-US" smtClean="0"/>
              <a:t>11/9/25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9CBFC-069A-41FB-B401-5CDE7832723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377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Optima"/>
          <a:ea typeface="+mj-ea"/>
          <a:cs typeface="Optima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Optima"/>
          <a:ea typeface="+mn-ea"/>
          <a:cs typeface="Optima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Optima"/>
          <a:ea typeface="+mn-ea"/>
          <a:cs typeface="Optima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Optima"/>
          <a:ea typeface="+mn-ea"/>
          <a:cs typeface="Optima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tima"/>
          <a:ea typeface="+mn-ea"/>
          <a:cs typeface="Optima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tima"/>
          <a:ea typeface="+mn-ea"/>
          <a:cs typeface="Optima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hyperlink" Target="https://gpt-tokenizer.dev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209800" y="1831844"/>
            <a:ext cx="7772400" cy="14700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4200" dirty="0"/>
              <a:t>Machine learning for sequence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C7AF98-368E-1B26-4D81-72A2C9647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591" y="3810000"/>
            <a:ext cx="4906818" cy="1288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B266-B241-7EA2-D68F-D8AB55E6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A41B-CB48-BB0E-2AA5-AF68F6BB1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following examples:</a:t>
            </a:r>
          </a:p>
          <a:p>
            <a:r>
              <a:rPr lang="en-US" dirty="0"/>
              <a:t>A text document as a sequence of words (tokens)</a:t>
            </a:r>
          </a:p>
          <a:p>
            <a:r>
              <a:rPr lang="en-US" dirty="0"/>
              <a:t>Sequence representing the stay of a patient in a hospital</a:t>
            </a:r>
          </a:p>
          <a:p>
            <a:r>
              <a:rPr lang="en-US" dirty="0"/>
              <a:t>Stock market prediction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tock market prediction">
            <a:extLst>
              <a:ext uri="{FF2B5EF4-FFF2-40B4-BE49-F238E27FC236}">
                <a16:creationId xmlns:a16="http://schemas.microsoft.com/office/drawing/2014/main" id="{9D7CE78E-C6DD-3785-05BE-1CA63E6A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3572164"/>
            <a:ext cx="4217951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6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0A0E-A977-9988-F360-2948971B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202C-7FAB-EB29-5ECC-2DD5D384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05DB6-1120-AE89-816A-CE3BFC0B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Prediction problems for sequence data (and let’s consider text data for concreteness):</a:t>
            </a:r>
          </a:p>
          <a:p>
            <a:r>
              <a:rPr lang="en-US" dirty="0"/>
              <a:t>Classify text (e.g. spam vs non-spam)</a:t>
            </a:r>
          </a:p>
          <a:p>
            <a:r>
              <a:rPr lang="en-US" dirty="0"/>
              <a:t>Translation, part of speech tagging (a sequence-to-sequence problem)</a:t>
            </a:r>
          </a:p>
          <a:p>
            <a:r>
              <a:rPr lang="en-US" dirty="0"/>
              <a:t>Text completion (this is what LLMs do!)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6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D2C1-917A-A95E-3119-B0911000B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as a sequence of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4FC0-04A8-4429-E028-58AE8C026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1353800" cy="469213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LLMs and other NLP methods break down text into smaller pieces called </a:t>
            </a:r>
            <a:r>
              <a:rPr lang="en-US" b="1" dirty="0"/>
              <a:t>tokens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Think of tokens as the fundamental LEGO bricks of language for an LLM.</a:t>
            </a:r>
          </a:p>
          <a:p>
            <a:pPr>
              <a:lnSpc>
                <a:spcPct val="120000"/>
              </a:lnSpc>
            </a:pPr>
            <a:r>
              <a:rPr lang="en-US" dirty="0"/>
              <a:t>Tokens can be: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Whole words (e.g., 'hello', 'world')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Parts of words (e.g., 'un-', '-</a:t>
            </a:r>
            <a:r>
              <a:rPr lang="en-US" dirty="0" err="1"/>
              <a:t>ing</a:t>
            </a:r>
            <a:r>
              <a:rPr lang="en-US" dirty="0"/>
              <a:t>', 'play-', '-able')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Punctuation (e.g., '.', '!', ‘?’)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 “Let’s learn about generative AI!” might be tokenized as:  [“Let’s”, “learn”, “about”, “</a:t>
            </a:r>
            <a:r>
              <a:rPr lang="en-US" dirty="0" err="1"/>
              <a:t>gener</a:t>
            </a:r>
            <a:r>
              <a:rPr lang="en-US" dirty="0"/>
              <a:t>”, “</a:t>
            </a:r>
            <a:r>
              <a:rPr lang="en-US" dirty="0" err="1"/>
              <a:t>ative</a:t>
            </a:r>
            <a:r>
              <a:rPr lang="en-US" dirty="0"/>
              <a:t>”, “AI”, “!”]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F5F5D-878F-804A-E5BC-171AD9E5AD40}"/>
              </a:ext>
            </a:extLst>
          </p:cNvPr>
          <p:cNvSpPr txBox="1"/>
          <p:nvPr/>
        </p:nvSpPr>
        <p:spPr>
          <a:xfrm>
            <a:off x="614362" y="6139934"/>
            <a:ext cx="3836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https://gpt-tokenizer.dev</a:t>
            </a:r>
            <a:endParaRPr lang="en-US" dirty="0"/>
          </a:p>
          <a:p>
            <a:r>
              <a:rPr lang="en-US" dirty="0">
                <a:hlinkClick r:id="rId3"/>
              </a:rPr>
              <a:t>https://platform.openai.com/tokenizer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48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F5D9-5D96-B0F4-5EB2-BBF293F6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tokens to token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14396-A0EF-A4E8-AC40-D7B36DFF9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list of tokens is converted into a list of token IDs: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[“Let”, “’s”, “learn”, “about”, “</a:t>
            </a:r>
            <a:r>
              <a:rPr lang="en-US" dirty="0" err="1"/>
              <a:t>generat</a:t>
            </a:r>
            <a:r>
              <a:rPr lang="en-US" dirty="0"/>
              <a:t>”, “</a:t>
            </a:r>
            <a:r>
              <a:rPr lang="en-US" dirty="0" err="1"/>
              <a:t>ive</a:t>
            </a:r>
            <a:r>
              <a:rPr lang="en-US" dirty="0"/>
              <a:t>”, “AI”, “!”]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[430, 126, 472, 3721, 2218, 21372, 28212, 9821]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providing text as input to a neural network, we will then convert the tokens into vectors, called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embeddings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963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C57D-BFD9-2631-6895-60904511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naïve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6F8F56-BDA6-598B-62CD-C77AFD4BEA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0972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Ideally, we would like to predict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simplifying assumption:  condition on a fixed window size: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These are called 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auto-regressive models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makes this approach appealing, is that you can use any model to make your predictions.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6F8F56-BDA6-598B-62CD-C77AFD4BE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0972800" cy="4525963"/>
              </a:xfrm>
              <a:blipFill>
                <a:blip r:embed="rId2"/>
                <a:stretch>
                  <a:fillRect l="-1387" t="-1961" r="-1272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89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7658-ACF1-BEAE-AA1D-4436B365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F323-C0C3-46A3-0C7D-A3C4ED85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naïve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D3115-BAFD-B444-D53E-AB3BBCCF6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1277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Ideally, we would like to predict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simplifying assumption:  condition on a fixed window size: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These are called 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auto-regressive models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makes this approach appealing, is that you can use any model to make your predictions.</a:t>
                </a:r>
              </a:p>
              <a:p>
                <a:pPr marL="0" indent="0">
                  <a:buNone/>
                </a:pPr>
                <a:r>
                  <a:rPr lang="en-US" dirty="0"/>
                  <a:t>The downside:  no long range memory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D3115-BAFD-B444-D53E-AB3BBCCF6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1277600" cy="5105400"/>
              </a:xfrm>
              <a:blipFill>
                <a:blip r:embed="rId2"/>
                <a:stretch>
                  <a:fillRect l="-1350" t="-1737" b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997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19200"/>
            <a:ext cx="4648199" cy="4038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Recurrent networks maintain memory of previously seen inputs and can model relationships across a sequence.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training algorithm:  Back propagation through time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066F9-24DD-5312-32CB-7A777F48E1C9}"/>
              </a:ext>
            </a:extLst>
          </p:cNvPr>
          <p:cNvSpPr txBox="1"/>
          <p:nvPr/>
        </p:nvSpPr>
        <p:spPr>
          <a:xfrm>
            <a:off x="426187" y="5858470"/>
            <a:ext cx="5697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Williams, R. J., &amp; Zipser, D. (1989). A learning algorithm for</a:t>
            </a:r>
          </a:p>
          <a:p>
            <a:r>
              <a:rPr lang="en-US" dirty="0"/>
              <a:t>continually running fully recurrent neural networks. Neural</a:t>
            </a:r>
          </a:p>
          <a:p>
            <a:r>
              <a:rPr lang="en-US" dirty="0"/>
              <a:t>Computation, 1(2), 270–280.</a:t>
            </a:r>
          </a:p>
        </p:txBody>
      </p:sp>
      <p:pic>
        <p:nvPicPr>
          <p:cNvPr id="9" name="Picture 8" descr="The architecture of a recurrent network">
            <a:extLst>
              <a:ext uri="{FF2B5EF4-FFF2-40B4-BE49-F238E27FC236}">
                <a16:creationId xmlns:a16="http://schemas.microsoft.com/office/drawing/2014/main" id="{98C84A58-CA9A-9B74-5842-BA244DB5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191490"/>
            <a:ext cx="7518400" cy="31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6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038BF-F334-B11C-D7A4-B92F24EF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E5C6-3204-6705-ACB1-2BDF4E87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networks</a:t>
            </a:r>
          </a:p>
        </p:txBody>
      </p:sp>
      <p:pic>
        <p:nvPicPr>
          <p:cNvPr id="9" name="Picture 8" descr="The architecture of a recurrent network">
            <a:extLst>
              <a:ext uri="{FF2B5EF4-FFF2-40B4-BE49-F238E27FC236}">
                <a16:creationId xmlns:a16="http://schemas.microsoft.com/office/drawing/2014/main" id="{F33E7215-3CC8-D12D-AF93-8EED534BB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308719"/>
            <a:ext cx="7975600" cy="3306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4D13BE-A971-3F3B-DF01-429ECD80A43F}"/>
                  </a:ext>
                </a:extLst>
              </p:cNvPr>
              <p:cNvSpPr txBox="1"/>
              <p:nvPr/>
            </p:nvSpPr>
            <p:spPr>
              <a:xfrm>
                <a:off x="457200" y="4876800"/>
                <a:ext cx="507587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Update equation for the hidden state: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𝐱𝐡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sz="2400" i="1" dirty="0" err="1">
                                  <a:latin typeface="Cambria Math" panose="02040503050406030204" pitchFamily="18" charset="0"/>
                                </a:rPr>
                                <m:t>𝐡𝐡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4D13BE-A971-3F3B-DF01-429ECD80A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76800"/>
                <a:ext cx="5075877" cy="1200329"/>
              </a:xfrm>
              <a:prstGeom prst="rect">
                <a:avLst/>
              </a:prstGeom>
              <a:blipFill>
                <a:blip r:embed="rId4"/>
                <a:stretch>
                  <a:fillRect l="-2000" t="-4211" r="-1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DEA0A-B588-85DF-8AC1-FB35379B9B92}"/>
                  </a:ext>
                </a:extLst>
              </p:cNvPr>
              <p:cNvSpPr txBox="1"/>
              <p:nvPr/>
            </p:nvSpPr>
            <p:spPr>
              <a:xfrm>
                <a:off x="5709503" y="4876800"/>
                <a:ext cx="6280694" cy="1233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mbria Math" panose="02040503050406030204" pitchFamily="18" charset="0"/>
                  </a:rPr>
                  <a:t>Computing the output from the hidden state:</a:t>
                </a: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𝐡𝐪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DEA0A-B588-85DF-8AC1-FB35379B9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503" y="4876800"/>
                <a:ext cx="6280694" cy="1233479"/>
              </a:xfrm>
              <a:prstGeom prst="rect">
                <a:avLst/>
              </a:prstGeom>
              <a:blipFill>
                <a:blip r:embed="rId5"/>
                <a:stretch>
                  <a:fillRect l="-1411" t="-4124" b="-8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082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2228-DCE0-0DAF-CA21-9D2BBF6D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0E052-153A-C9A0-A67D-0A8064007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RNN applied to a hypothetical sequence of tokens:</a:t>
            </a:r>
          </a:p>
        </p:txBody>
      </p:sp>
      <p:pic>
        <p:nvPicPr>
          <p:cNvPr id="4" name="Picture 3" descr="RNN applied to a sequence of tokens">
            <a:extLst>
              <a:ext uri="{FF2B5EF4-FFF2-40B4-BE49-F238E27FC236}">
                <a16:creationId xmlns:a16="http://schemas.microsoft.com/office/drawing/2014/main" id="{A0A068B6-B685-8E2D-1566-B0DD74752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362200"/>
            <a:ext cx="8153400" cy="330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4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69A2-F7A5-BF22-299B-6861C42B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problems with recurrent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293D1-44BE-54E7-C400-C91C9999B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happens to the gradient if you backpropagate through a long sequence?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The architecture of a recurrent network">
            <a:extLst>
              <a:ext uri="{FF2B5EF4-FFF2-40B4-BE49-F238E27FC236}">
                <a16:creationId xmlns:a16="http://schemas.microsoft.com/office/drawing/2014/main" id="{DC327927-8F50-99A9-E1D0-6945C1ACF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81400"/>
            <a:ext cx="7518400" cy="31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5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BBE77-1EE5-6364-C53C-BEE3074E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F3469-CA37-A9DE-6CAE-5476B5A7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problems with recurrent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AF661-51F2-D5B7-0098-68B3BE78C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sufficiently many steps, the network “forgets” what it has seen earlier.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The architecture of a recurrent network">
            <a:extLst>
              <a:ext uri="{FF2B5EF4-FFF2-40B4-BE49-F238E27FC236}">
                <a16:creationId xmlns:a16="http://schemas.microsoft.com/office/drawing/2014/main" id="{C7A2E079-C6BF-3725-9284-634D6542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81400"/>
            <a:ext cx="7518400" cy="31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6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A385-21CF-A4D0-D43D-CACF0705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LSTMs / GRUs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3A01-69DF-2C2B-DA84-3C117A52E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35" y="1219200"/>
            <a:ext cx="109728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Standard RNNs have a very simple structure: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LSTMs have more elaborate units: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434FD-D085-0453-B912-0E50EF530B22}"/>
              </a:ext>
            </a:extLst>
          </p:cNvPr>
          <p:cNvSpPr txBox="1"/>
          <p:nvPr/>
        </p:nvSpPr>
        <p:spPr>
          <a:xfrm>
            <a:off x="289367" y="5468934"/>
            <a:ext cx="106282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  <a:effectLst/>
                <a:latin typeface="Optima" panose="02000503060000020004" pitchFamily="2" charset="0"/>
              </a:rPr>
              <a:t>Original paper:</a:t>
            </a:r>
          </a:p>
          <a:p>
            <a:r>
              <a:rPr lang="en-US" dirty="0" err="1">
                <a:solidFill>
                  <a:srgbClr val="222222"/>
                </a:solidFill>
                <a:effectLst/>
                <a:latin typeface="Optima" panose="02000503060000020004" pitchFamily="2" charset="0"/>
              </a:rPr>
              <a:t>Hochreiter</a:t>
            </a:r>
            <a:r>
              <a:rPr lang="en-US" dirty="0">
                <a:solidFill>
                  <a:srgbClr val="222222"/>
                </a:solidFill>
                <a:effectLst/>
                <a:latin typeface="Optima" panose="02000503060000020004" pitchFamily="2" charset="0"/>
              </a:rPr>
              <a:t>, Sepp, and Jürgen </a:t>
            </a:r>
            <a:r>
              <a:rPr lang="en-US" dirty="0" err="1">
                <a:solidFill>
                  <a:srgbClr val="222222"/>
                </a:solidFill>
                <a:effectLst/>
                <a:latin typeface="Optima" panose="02000503060000020004" pitchFamily="2" charset="0"/>
              </a:rPr>
              <a:t>Schmidhuber</a:t>
            </a:r>
            <a:r>
              <a:rPr lang="en-US" dirty="0">
                <a:solidFill>
                  <a:srgbClr val="222222"/>
                </a:solidFill>
                <a:effectLst/>
                <a:latin typeface="Optima" panose="02000503060000020004" pitchFamily="2" charset="0"/>
              </a:rPr>
              <a:t>. "Long short-term memory." Neural computation 9.8 (1997): 1735-1780.</a:t>
            </a:r>
          </a:p>
          <a:p>
            <a:endParaRPr lang="en-US" dirty="0">
              <a:solidFill>
                <a:srgbClr val="222222"/>
              </a:solidFill>
              <a:latin typeface="Optima" panose="02000503060000020004" pitchFamily="2" charset="0"/>
            </a:endParaRPr>
          </a:p>
          <a:p>
            <a:r>
              <a:rPr lang="en-US" dirty="0">
                <a:solidFill>
                  <a:srgbClr val="222222"/>
                </a:solidFill>
                <a:latin typeface="Optima" panose="02000503060000020004" pitchFamily="2" charset="0"/>
              </a:rPr>
              <a:t>Presentation follows:</a:t>
            </a:r>
          </a:p>
          <a:p>
            <a:r>
              <a:rPr lang="en-US" dirty="0">
                <a:latin typeface="Optima" panose="02000503060000020004" pitchFamily="2" charset="0"/>
              </a:rPr>
              <a:t>http://</a:t>
            </a:r>
            <a:r>
              <a:rPr lang="en-US" dirty="0" err="1">
                <a:latin typeface="Optima" panose="02000503060000020004" pitchFamily="2" charset="0"/>
              </a:rPr>
              <a:t>colah.github.io</a:t>
            </a:r>
            <a:r>
              <a:rPr lang="en-US" dirty="0">
                <a:latin typeface="Optima" panose="02000503060000020004" pitchFamily="2" charset="0"/>
              </a:rPr>
              <a:t>/posts/2015-08-Understanding-LSTMs/</a:t>
            </a:r>
          </a:p>
        </p:txBody>
      </p:sp>
      <p:pic>
        <p:nvPicPr>
          <p:cNvPr id="2050" name="Picture 2" descr="The architecture of a recurrent network">
            <a:extLst>
              <a:ext uri="{FF2B5EF4-FFF2-40B4-BE49-F238E27FC236}">
                <a16:creationId xmlns:a16="http://schemas.microsoft.com/office/drawing/2014/main" id="{C4AC8225-965B-FB42-5C47-4CE656E19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6" y="2176479"/>
            <a:ext cx="4379013" cy="163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LSTM neural network.">
            <a:extLst>
              <a:ext uri="{FF2B5EF4-FFF2-40B4-BE49-F238E27FC236}">
                <a16:creationId xmlns:a16="http://schemas.microsoft.com/office/drawing/2014/main" id="{194B7B59-EB74-7474-7718-592654A35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743" y="2836570"/>
            <a:ext cx="5896257" cy="221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ymbols used in the description of an LSTM">
            <a:extLst>
              <a:ext uri="{FF2B5EF4-FFF2-40B4-BE49-F238E27FC236}">
                <a16:creationId xmlns:a16="http://schemas.microsoft.com/office/drawing/2014/main" id="{23BA7620-DE4C-7763-9214-3ADC48BD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166" y="1670497"/>
            <a:ext cx="5431444" cy="101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28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6620-995F-DFF2-32CB-E4C1D4FA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cell state</a:t>
            </a:r>
          </a:p>
        </p:txBody>
      </p:sp>
      <p:pic>
        <p:nvPicPr>
          <p:cNvPr id="6146" name="Picture 2" descr="The cell state">
            <a:extLst>
              <a:ext uri="{FF2B5EF4-FFF2-40B4-BE49-F238E27FC236}">
                <a16:creationId xmlns:a16="http://schemas.microsoft.com/office/drawing/2014/main" id="{36389149-DC28-44B8-E707-DB8781428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073" y="1704007"/>
            <a:ext cx="9393382" cy="290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51083-E562-D6A7-BBEA-CD050718614A}"/>
              </a:ext>
            </a:extLst>
          </p:cNvPr>
          <p:cNvSpPr txBox="1"/>
          <p:nvPr/>
        </p:nvSpPr>
        <p:spPr>
          <a:xfrm>
            <a:off x="6400800" y="373380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 gate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C7BB9-84D0-A317-34A5-720D4FB0359A}"/>
              </a:ext>
            </a:extLst>
          </p:cNvPr>
          <p:cNvSpPr txBox="1"/>
          <p:nvPr/>
        </p:nvSpPr>
        <p:spPr>
          <a:xfrm>
            <a:off x="8382000" y="3733800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gate</a:t>
            </a:r>
          </a:p>
        </p:txBody>
      </p:sp>
    </p:spTree>
    <p:extLst>
      <p:ext uri="{BB962C8B-B14F-4D97-AF65-F5344CB8AC3E}">
        <p14:creationId xmlns:p14="http://schemas.microsoft.com/office/powerpoint/2010/main" val="375125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Updating the cell state">
            <a:extLst>
              <a:ext uri="{FF2B5EF4-FFF2-40B4-BE49-F238E27FC236}">
                <a16:creationId xmlns:a16="http://schemas.microsoft.com/office/drawing/2014/main" id="{593A80F5-0836-A69E-6822-42C70F8EC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782" y="831264"/>
            <a:ext cx="7886218" cy="243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97795-1186-DE37-2EF6-69C475F3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cell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19C6-77F9-6117-8F57-3011B88A6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063808"/>
            <a:ext cx="5472253" cy="5186521"/>
          </a:xfrm>
        </p:spPr>
        <p:txBody>
          <a:bodyPr/>
          <a:lstStyle/>
          <a:p>
            <a:r>
              <a:rPr lang="en-US" sz="2400" dirty="0"/>
              <a:t>C</a:t>
            </a:r>
            <a:r>
              <a:rPr lang="en-US" sz="2400" baseline="-25000" dirty="0"/>
              <a:t>t</a:t>
            </a:r>
            <a:r>
              <a:rPr lang="en-US" sz="2400" dirty="0"/>
              <a:t> – the cell state</a:t>
            </a:r>
          </a:p>
          <a:p>
            <a:r>
              <a:rPr lang="en-US" sz="2400" dirty="0"/>
              <a:t>At each step the LSTM has the ability to modify the cell state using gates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“forget gate” – controls what information to keep in the cell state  </a:t>
            </a:r>
          </a:p>
        </p:txBody>
      </p:sp>
      <p:pic>
        <p:nvPicPr>
          <p:cNvPr id="3078" name="Picture 6" descr="Updating the cell state:  the forget gate">
            <a:extLst>
              <a:ext uri="{FF2B5EF4-FFF2-40B4-BE49-F238E27FC236}">
                <a16:creationId xmlns:a16="http://schemas.microsoft.com/office/drawing/2014/main" id="{923AC763-3D29-626D-30D8-6C521C298C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 r="47258"/>
          <a:stretch/>
        </p:blipFill>
        <p:spPr bwMode="auto">
          <a:xfrm>
            <a:off x="6439380" y="3392571"/>
            <a:ext cx="4159347" cy="229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E7CA509D-D513-1EEC-EB02-4586F9244B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6" t="33885" r="1450" b="27839"/>
          <a:stretch/>
        </p:blipFill>
        <p:spPr bwMode="auto">
          <a:xfrm>
            <a:off x="6439380" y="5684055"/>
            <a:ext cx="4034656" cy="101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Updating the cell state: the forget gate">
            <a:extLst>
              <a:ext uri="{FF2B5EF4-FFF2-40B4-BE49-F238E27FC236}">
                <a16:creationId xmlns:a16="http://schemas.microsoft.com/office/drawing/2014/main" id="{6D80897F-913A-2CBA-273E-453897411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036" y="2462101"/>
            <a:ext cx="1317033" cy="160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832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6620-995F-DFF2-32CB-E4C1D4FA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the cell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2BE7-9F74-CB50-98DE-D5B026C4C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Deciding what new information to add to the cell state:</a:t>
            </a:r>
          </a:p>
        </p:txBody>
      </p:sp>
      <p:pic>
        <p:nvPicPr>
          <p:cNvPr id="4098" name="Picture 2" descr="Adding information to the cell state">
            <a:extLst>
              <a:ext uri="{FF2B5EF4-FFF2-40B4-BE49-F238E27FC236}">
                <a16:creationId xmlns:a16="http://schemas.microsoft.com/office/drawing/2014/main" id="{8B14DD82-0F27-2D68-C0E6-BEA48928E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64" y="2065768"/>
            <a:ext cx="10335072" cy="31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114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8B35-3B52-4B07-F5F9-44D0CEE1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E7A3-8763-B667-A724-701DBF637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The output is based on the cell state and the previous hidden state:</a:t>
            </a:r>
          </a:p>
        </p:txBody>
      </p:sp>
      <p:pic>
        <p:nvPicPr>
          <p:cNvPr id="7170" name="Picture 2" descr="Computing the output of an LSTM unit">
            <a:extLst>
              <a:ext uri="{FF2B5EF4-FFF2-40B4-BE49-F238E27FC236}">
                <a16:creationId xmlns:a16="http://schemas.microsoft.com/office/drawing/2014/main" id="{F9438120-10CD-56DC-4AEF-89D44D81B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15755"/>
            <a:ext cx="10668000" cy="32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16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2D2B-AC5E-5F9E-D0AF-4426460D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recurrent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7072B-FB06-A63E-1C85-D303C01B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525963"/>
          </a:xfrm>
        </p:spPr>
        <p:txBody>
          <a:bodyPr/>
          <a:lstStyle/>
          <a:p>
            <a:r>
              <a:rPr lang="en-US" dirty="0"/>
              <a:t>Like MLPs and CNNs, you can stack multiple RNN layers:</a:t>
            </a:r>
          </a:p>
        </p:txBody>
      </p:sp>
      <p:pic>
        <p:nvPicPr>
          <p:cNvPr id="4" name="Picture 3" descr="Stacking RNN layers">
            <a:extLst>
              <a:ext uri="{FF2B5EF4-FFF2-40B4-BE49-F238E27FC236}">
                <a16:creationId xmlns:a16="http://schemas.microsoft.com/office/drawing/2014/main" id="{64F9AE66-3665-A044-9EB5-0F32FAE7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148609"/>
            <a:ext cx="44831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57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255E-467C-3DC0-C6B6-8DB8468E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recurrent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06A92-4828-556E-8050-FB18CF4D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09" y="1371600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Prediction of masked tokens is a common application of RNNs.  Depending on what comes after the masked token, the likely value of the missing token changes dramatically:</a:t>
            </a:r>
          </a:p>
          <a:p>
            <a:r>
              <a:rPr lang="en-US" sz="2800" dirty="0"/>
              <a:t>I am ___.</a:t>
            </a:r>
          </a:p>
          <a:p>
            <a:r>
              <a:rPr lang="en-US" sz="2800" dirty="0"/>
              <a:t>I am ___ hungry.</a:t>
            </a:r>
          </a:p>
          <a:p>
            <a:r>
              <a:rPr lang="en-US" sz="2800" dirty="0"/>
              <a:t>I am ___ hungry, and I can eat half a pig.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There is a simple tweak that will allow the network to do better in this task.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3472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7E16-2A1C-5D7F-E07C-2182C410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recurrent networks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A2C3E1-6651-3823-3909-9413778F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82" y="1452453"/>
            <a:ext cx="10972800" cy="4525963"/>
          </a:xfrm>
        </p:spPr>
        <p:txBody>
          <a:bodyPr/>
          <a:lstStyle/>
          <a:p>
            <a:r>
              <a:rPr lang="en-US" dirty="0"/>
              <a:t>Idea:  chain two unidirectional RNN layers in opposite directions and acting on the same input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DFD87-4563-FFEB-C074-4EA48DC9325E}"/>
              </a:ext>
            </a:extLst>
          </p:cNvPr>
          <p:cNvSpPr txBox="1"/>
          <p:nvPr/>
        </p:nvSpPr>
        <p:spPr>
          <a:xfrm>
            <a:off x="152400" y="6211669"/>
            <a:ext cx="74021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Schuster, M., &amp; Paliwal, K. K. (1997). Bidirectional recurrent neural networks. </a:t>
            </a:r>
          </a:p>
          <a:p>
            <a:r>
              <a:rPr lang="en-US" dirty="0"/>
              <a:t>IEEE Transactions on Signal Processing, 45(11), 2673–2681.</a:t>
            </a:r>
          </a:p>
          <a:p>
            <a:endParaRPr lang="en-US" dirty="0"/>
          </a:p>
        </p:txBody>
      </p:sp>
      <p:pic>
        <p:nvPicPr>
          <p:cNvPr id="6" name="Picture 5" descr="A bidirectional RNN">
            <a:extLst>
              <a:ext uri="{FF2B5EF4-FFF2-40B4-BE49-F238E27FC236}">
                <a16:creationId xmlns:a16="http://schemas.microsoft.com/office/drawing/2014/main" id="{D703C886-6BF9-ADAC-E0FF-3A5D044B0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612381"/>
            <a:ext cx="5366723" cy="348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55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4E49-C05F-C221-6F20-F1321B25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LSTMs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A040-B9B9-40DD-8245-E60258172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dirty="0"/>
              <a:t>Time series prediction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/>
              <a:t>Speech recognition (2004; in conjunction with the CTC loss; incorporated in google voice in 2015)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/>
              <a:t>Handwriting recognition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/>
              <a:t>NLP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/>
              <a:t>Image captioning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/>
              <a:t>Translation</a:t>
            </a:r>
          </a:p>
          <a:p>
            <a:pPr marL="342900" indent="-342900">
              <a:buFont typeface="Wingdings" pitchFamily="2" charset="2"/>
              <a:buChar char="ü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Variants:  Gated Recurrent Units (GRUs)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4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6E61-A468-C4AB-9650-4B7675F9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next:  LSTMs for document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D5E9-B268-A3BF-CD16-77C2D7F88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71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TeX XColor Dvips 1">
      <a:dk1>
        <a:sysClr val="windowText" lastClr="000000"/>
      </a:dk1>
      <a:lt1>
        <a:sysClr val="window" lastClr="FFFFFF"/>
      </a:lt1>
      <a:dk2>
        <a:srgbClr val="ED1C24"/>
      </a:dk2>
      <a:lt2>
        <a:srgbClr val="149B52"/>
      </a:lt2>
      <a:accent1>
        <a:srgbClr val="176FC1"/>
      </a:accent1>
      <a:accent2>
        <a:srgbClr val="F46E2B"/>
      </a:accent2>
      <a:accent3>
        <a:srgbClr val="741E0B"/>
      </a:accent3>
      <a:accent4>
        <a:srgbClr val="95319E"/>
      </a:accent4>
      <a:accent5>
        <a:srgbClr val="F02EA1"/>
      </a:accent5>
      <a:accent6>
        <a:srgbClr val="14A4E6"/>
      </a:accent6>
      <a:hlink>
        <a:srgbClr val="FF2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62543</TotalTime>
  <Words>1349</Words>
  <Application>Microsoft Macintosh PowerPoint</Application>
  <PresentationFormat>Widescreen</PresentationFormat>
  <Paragraphs>151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 Math</vt:lpstr>
      <vt:lpstr>CMS</vt:lpstr>
      <vt:lpstr>Optima</vt:lpstr>
      <vt:lpstr>STIXGeneral-Italic</vt:lpstr>
      <vt:lpstr>STIXGeneral-Regular</vt:lpstr>
      <vt:lpstr>Wingdings</vt:lpstr>
      <vt:lpstr>Office Theme</vt:lpstr>
      <vt:lpstr>Machine learning for sequence data</vt:lpstr>
      <vt:lpstr>Sequence data</vt:lpstr>
      <vt:lpstr>Sequence data</vt:lpstr>
      <vt:lpstr>Text as a sequence of tokens</vt:lpstr>
      <vt:lpstr>From tokens to token IDs</vt:lpstr>
      <vt:lpstr>A naïve approach</vt:lpstr>
      <vt:lpstr>A naïve approach</vt:lpstr>
      <vt:lpstr>Recurrent networks</vt:lpstr>
      <vt:lpstr>Recurrent networks</vt:lpstr>
      <vt:lpstr>Recurrent networks</vt:lpstr>
      <vt:lpstr>The problems with recurrent networks</vt:lpstr>
      <vt:lpstr>The problems with recurrent networks</vt:lpstr>
      <vt:lpstr>The solution: LSTMs / GRUs</vt:lpstr>
      <vt:lpstr>Updating the cell state</vt:lpstr>
      <vt:lpstr>Updating the cell state</vt:lpstr>
      <vt:lpstr>Updating the cell state</vt:lpstr>
      <vt:lpstr>The output</vt:lpstr>
      <vt:lpstr>Deep recurrent networks</vt:lpstr>
      <vt:lpstr>Improving recurrent networks</vt:lpstr>
      <vt:lpstr>Bidirectional recurrent networks</vt:lpstr>
      <vt:lpstr>Applications of LSTMs</vt:lpstr>
      <vt:lpstr>What’s next:  LSTMs for document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in a Genome Does DNA Replication Begin</dc:title>
  <dc:creator>snow</dc:creator>
  <cp:lastModifiedBy>Ben-Hur,Asa</cp:lastModifiedBy>
  <cp:revision>1900</cp:revision>
  <cp:lastPrinted>2015-03-11T23:48:55Z</cp:lastPrinted>
  <dcterms:created xsi:type="dcterms:W3CDTF">2013-05-28T03:36:16Z</dcterms:created>
  <dcterms:modified xsi:type="dcterms:W3CDTF">2025-11-11T17:47:58Z</dcterms:modified>
</cp:coreProperties>
</file>